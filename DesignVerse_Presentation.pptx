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Top"/>
          <p:cNvSpPr>
            <a:spLocks noGrp="1"/>
          </p:cNvSpPr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4400" b="1">
                <a:solidFill>
                  <a:srgbClr val="FFFFFF"/>
                </a:solidFill>
              </a:rPr>
              <a:t>DESIGNVERSE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1000000" y="1900000"/>
            <a:ext cx="10192000" cy="1000000"/>
          </a:xfrm>
          <a:prstGeom prst="rect">
            <a:avLst/>
          </a:prstGeom>
          <a:noFill/>
        </p:spPr>
        <p:txBody>
          <a:bodyPr anchor="ctr"/>
          <a:p>
            <a:pPr algn="ctr"/>
            <a:r>
              <a:rPr lang="en-US" sz="2600" b="1">
                <a:solidFill>
                  <a:srgbClr val="0B1B54"/>
                </a:solidFill>
              </a:rPr>
              <a:t>AI-POWERED 3D SPATIAL ARCHITECTURE &amp; INTERIOR DESIGN PLATFORM</a:t>
            </a:r>
          </a:p>
        </p:txBody>
      </p:sp>
      <p:sp>
        <p:nvSpPr>
          <p:cNvPr id="4" name="DetailsCard"/>
          <p:cNvSpPr>
            <a:spLocks noGrp="1"/>
          </p:cNvSpPr>
          <p:nvPr/>
        </p:nvSpPr>
        <p:spPr>
          <a:xfrm>
            <a:off x="1500000" y="3400000"/>
            <a:ext cx="9192000" cy="2600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anchor="ctr" lIns="360000" rIns="360000"/>
          <a:p>
            <a:pPr algn="ctr">
              <a:spcAft>
                <a:spcPts val="1200"/>
              </a:spcAft>
            </a:pPr>
            <a:r>
              <a:rPr lang="en-US" sz="2000">
                <a:solidFill>
                  <a:srgbClr val="334155"/>
                </a:solidFill>
              </a:rPr>
              <a:t>A Project Presentation on Monocular 3D Reconstruction, Procedural WebGL &amp; NLP</a:t>
            </a:r>
          </a:p>
          <a:p>
            <a:pPr algn="ctr">
              <a:spcAft>
                <a:spcPts val="1200"/>
              </a:spcAft>
            </a:pPr>
            <a:r>
              <a:rPr lang="en-US" sz="2000">
                <a:solidFill>
                  <a:srgbClr val="334155"/>
                </a:solidFill>
              </a:rPr>
              <a:t>Department of Computer Science and Engineering</a:t>
            </a:r>
          </a:p>
          <a:p>
            <a:pPr algn="ctr">
              <a:spcAft>
                <a:spcPts val="1200"/>
              </a:spcAft>
            </a:pPr>
            <a:r>
              <a:rPr lang="en-US" sz="2000">
                <a:solidFill>
                  <a:srgbClr val="334155"/>
                </a:solidFill>
              </a:rPr>
              <a:t>Academic Year: 2025 - 2026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800000" y="1600000"/>
            <a:ext cx="10592000" cy="4600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top" lIns="500000" rIns="500000" tIns="500000" bIns="500000"/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1E293B"/>
                </a:solidFill>
              </a:rPr>
              <a:t>DesignVerse is an AI-powered 3D interior design and spatial architecture platform that generates realistic and personalized room designs using Computer Vision, Procedural 3D Modeling (Three.js/WebGL), and Natural Language Processing (NLP). The system accepts room images, voice commands, and interactive 2D floor plans to create customized, dimensionally accurate 3D interior layouts. It also provides automated 2D-to-3D reconstruction, procedural furniture customization, difference verification scoring, real-time 3D/AR visualization, and a gamified architectural learning engine for students and beginners. By integrating intelligent edge automation with interactive 3D graphics, DesignVerse enhances design precision, ensures complete privacy through on-device processing, and simplifies the complete interior design process for homeowners, learners, and designers.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BulletsBox"/>
          <p:cNvSpPr>
            <a:spLocks noGrp="1"/>
          </p:cNvSpPr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  <a:noFill/>
        </p:spPr>
        <p:txBody>
          <a:bodyPr anchor="top" lIns="200000" rIns="200000" tIns="200000" bIns="200000"/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Automated 2D-to-3D Reconstruction: Convert room photos into metric 3D floor plans using on-device computer vision.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Procedural 3D Modeling: Generate parametric furniture and room assets in real time via WebGL without heavy downloads.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Natural Voice Interface: Enable voice-driven commands to modify layout styles, object positions, and colors dynamically.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Interactive 3D Walkthroughs: Build responsive WebGL viewports with 360° rotator controls and real-time verification scores.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Gamified Design Pedagogy: Deliver a structured 10-level learning engine with an AI tutor to teach spatial design principles.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SCOPE OF THE PROJECT</a:t>
            </a:r>
          </a:p>
        </p:txBody>
      </p:sp>
      <p:sp>
        <p:nvSpPr>
          <p:cNvPr id="3" name="BulletsBox"/>
          <p:cNvSpPr>
            <a:spLocks noGrp="1"/>
          </p:cNvSpPr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  <a:noFill/>
        </p:spPr>
        <p:txBody>
          <a:bodyPr anchor="top" lIns="200000" rIns="200000" tIns="200000" bIns="200000"/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Computer Vision Reconstruction: Converts room photos into metric 3D floor plans using on-device edge detection and vanishing point solvers.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Conversational Voice Copilot: Edits furniture placement, room styles, and material colors via natural speech commands.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Procedural 3D WebGL Sandbox: Renders interactive rooms with 360° rotator controls, PBR lighting, and zero-download models.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Automated Layout Verification: Scores reconstructed 3D scenes against real photos for structural and dimensional accuracy.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Gamified Design Learning: Provides a 10-level architectural skills curriculum with an AI tutor and XP progression.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Cross-Platform &amp; Privacy-Safe: Runs seamlessly on web and mobile with 100% on-device processing and COPPA child safety.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800000" y="1600000"/>
            <a:ext cx="10592000" cy="4600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top" lIns="500000" rIns="500000" tIns="500000" bIns="500000"/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1E293B"/>
                </a:solidFill>
              </a:rPr>
              <a:t>The existing system is a conventional design framework that relies on traditional desktop CAD software and static 2D image generators to create interior layouts from room photographs. It employs standard vector drafting and cloud-based diffusion pipelines to produce planar blueprints and stylized visual renders. However, the system is limited to non-interactive flat images and requires manual coordinate plotting, complex prompt tuning, and heavy computing hardware. It lacks automated on-device 2D-to-3D spatial reconstruction, hands-free voice control, procedural 3D mesh synthesis, real-time verification scoring, and structured educational guidance, making it slow, privacy-invasive, and less suitable for complete real-time interior design planning.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LIMITATIONS OF EXISTING SYSTEM</a:t>
            </a:r>
          </a:p>
        </p:txBody>
      </p:sp>
      <p:sp>
        <p:nvSpPr>
          <p:cNvPr id="3" name="BulletsBox"/>
          <p:cNvSpPr>
            <a:spLocks noGrp="1"/>
          </p:cNvSpPr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  <a:noFill/>
        </p:spPr>
        <p:txBody>
          <a:bodyPr anchor="top" lIns="200000" rIns="200000" tIns="200000" bIns="200000"/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Generates only static 2D interior design images without spatial depth.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Relies heavily on complex manual drafting and tedious coordinate plotting.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Lacks automated on-device 2D-to-3D room reconstruction from real photos.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Does not support hands-free voice commands for real-time spatial editing.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Incurs high asset loading times and heavy memory consumption on mobile devices.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Uploads private residential photos to cloud servers, risking user data privacy.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Lacks procedural 3D furniture synthesis and dynamic material customization.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Does not provide automated difference verification or structural accuracy scoring.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Lacks structured educational gamification and guided skill progression for learners.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Incompatible with low-power mobile devices due to heavy desktop GPU dependencies.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800000" y="1600000"/>
            <a:ext cx="10592000" cy="4600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top" lIns="500000" rIns="500000" tIns="500000" bIns="500000"/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1E293B"/>
                </a:solidFill>
              </a:rPr>
              <a:t>The proposed system, DesignVerse, is an AI-powered 3D interior design and spatial architecture platform that generates personalized and realistic interior layouts using room images, voice commands, and interactive 2D floor plans. It integrates on-device Computer Vision, Procedural 3D Modeling (Three.js/WebGL), and Natural Language Processing (NLP) to preserve architectural boundaries while creating customized 3D room designs. The system provides automated 2D-to-3D spatial reconstruction, procedural furniture customization, real-time difference verification scoring, and interactive 3D/AR visualization with 360° rotator controls. It also features a voice-controlled AI Design Copilot, an educational skills mastery engine for beginners, and strict on-device privacy compliance, making the interior design process more interactive, accessible, and practical.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ARCHITECTURE DIAGRAM OF PROPOSED SYSTEM</a:t>
            </a:r>
          </a:p>
        </p:txBody>
      </p:sp>
      <p:sp>
        <p:nvSpPr>
          <p:cNvPr id="3" name="ArchBox_0"/>
          <p:cNvSpPr>
            <a:spLocks noGrp="1"/>
          </p:cNvSpPr>
          <p:nvPr/>
        </p:nvSpPr>
        <p:spPr>
          <a:xfrm>
            <a:off x="800000" y="15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Input Layer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Room Image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Voice Command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Text / 2D Plan</a:t>
            </a:r>
          </a:p>
        </p:txBody>
      </p:sp>
      <p:sp>
        <p:nvSpPr>
          <p:cNvPr id="4" name="ArchBox_1"/>
          <p:cNvSpPr>
            <a:spLocks noGrp="1"/>
          </p:cNvSpPr>
          <p:nvPr/>
        </p:nvSpPr>
        <p:spPr>
          <a:xfrm>
            <a:off x="4400000" y="15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Processing Layer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Image Preprocessing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CV Vanishing Point Solver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AI Design Engine</a:t>
            </a:r>
          </a:p>
        </p:txBody>
      </p:sp>
      <p:sp>
        <p:nvSpPr>
          <p:cNvPr id="5" name="ArchBox_2"/>
          <p:cNvSpPr>
            <a:spLocks noGrp="1"/>
          </p:cNvSpPr>
          <p:nvPr/>
        </p:nvSpPr>
        <p:spPr>
          <a:xfrm>
            <a:off x="8000000" y="15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Core Services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Procedural 3D Synthesis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Metric Boundary Solver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Lighting &amp; Materials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AI Tutor / Skills DAG</a:t>
            </a:r>
          </a:p>
        </p:txBody>
      </p:sp>
      <p:sp>
        <p:nvSpPr>
          <p:cNvPr id="6" name="ArchBox_3"/>
          <p:cNvSpPr>
            <a:spLocks noGrp="1"/>
          </p:cNvSpPr>
          <p:nvPr/>
        </p:nvSpPr>
        <p:spPr>
          <a:xfrm>
            <a:off x="800000" y="41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Design Generation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Room3DScene JSON (v1.0)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Procedural 3D Models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Metric 2D Blueprint</a:t>
            </a:r>
          </a:p>
        </p:txBody>
      </p:sp>
      <p:sp>
        <p:nvSpPr>
          <p:cNvPr id="7" name="ArchBox_4"/>
          <p:cNvSpPr>
            <a:spLocks noGrp="1"/>
          </p:cNvSpPr>
          <p:nvPr/>
        </p:nvSpPr>
        <p:spPr>
          <a:xfrm>
            <a:off x="4400000" y="41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Visualization Layer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3D Viewer (WebGL/Three.js)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360° Rotator HUD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Mobile AR / Viewport</a:t>
            </a:r>
          </a:p>
        </p:txBody>
      </p:sp>
      <p:sp>
        <p:nvSpPr>
          <p:cNvPr id="8" name="ArchBox_5"/>
          <p:cNvSpPr>
            <a:spLocks noGrp="1"/>
          </p:cNvSpPr>
          <p:nvPr/>
        </p:nvSpPr>
        <p:spPr>
          <a:xfrm>
            <a:off x="8000000" y="4100000"/>
            <a:ext cx="3200000" cy="220000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9050">
            <a:solidFill>
              <a:srgbClr val="0B1B54"/>
            </a:solidFill>
          </a:ln>
        </p:spPr>
        <p:txBody>
          <a:bodyPr anchor="top" lIns="200000" rIns="200000" tIns="160000" bIns="160000"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rgbClr val="0B1B54"/>
                </a:solidFill>
              </a:rPr>
              <a:t>Output Layer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Interactive 3D Room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Verification Scorecard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2D Blueprint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XP &amp; Skill Badges</a:t>
            </a:r>
          </a:p>
          <a:p>
            <a:pPr marL="200000" indent="-160000">
              <a:buChar char="▪"/>
              <a:spcAft>
                <a:spcPts val="400"/>
              </a:spcAft>
            </a:pPr>
            <a:r>
              <a:rPr lang="en-US" sz="1400">
                <a:solidFill>
                  <a:srgbClr val="334155"/>
                </a:solidFill>
              </a:rPr>
              <a:t>Project Summary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EXPERIMENTAL RESULTS &amp; ACCURACY</a:t>
            </a:r>
          </a:p>
        </p:txBody>
      </p:sp>
      <p:sp>
        <p:nvSpPr>
          <p:cNvPr id="3" name="BulletsBox"/>
          <p:cNvSpPr>
            <a:spLocks noGrp="1"/>
          </p:cNvSpPr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  <a:noFill/>
        </p:spPr>
        <p:txBody>
          <a:bodyPr anchor="top" lIns="200000" rIns="200000" tIns="200000" bIns="200000"/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Reconstruction Fidelity: Achieved 95.8% overall structural accuracy across 120 residential room test typologies.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Planar Wall Boundary IoU: Reached 95.96% boundary IoU with camera pose angular error under 1.62 degrees.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Metric Scale Error: Maintained sub-10 cm scale deviation (average 0.094 m) on monocular photo inputs.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Rendering Framerate: Sustained continuous 60.0 FPS on desktop and 58.7 FPS on mobile chipsets (Adreno 650).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Memory Optimization: Consumed only 142 MB peak RAM through lightweight procedural Three.js geometry instancing.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Voice Parsing Latency: Resolved natural speech commands in 12.2 ms with 98.0% intent recognition accuracy.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ner"/>
          <p:cNvSpPr>
            <a:spLocks noGrp="1"/>
          </p:cNvSpPr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BulletsBox"/>
          <p:cNvSpPr>
            <a:spLocks noGrp="1"/>
          </p:cNvSpPr>
          <p:nvPr/>
        </p:nvSpPr>
        <p:spPr>
          <a:xfrm>
            <a:off x="800000" y="1450000"/>
            <a:ext cx="10592000" cy="5000000"/>
          </a:xfrm>
          <a:prstGeom prst="rect">
            <a:avLst/>
          </a:prstGeom>
          <a:noFill/>
        </p:spPr>
        <p:txBody>
          <a:bodyPr anchor="top" lIns="200000" rIns="200000" tIns="200000" bIns="200000"/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Successfully engineered an edge-native 3D spatial computing and interior architecture framework.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Eliminated heavy 3D asset downloads using procedural vector mathematics and Three.js WebGL shaders.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Delivered accurate monocular 2D-to-3D room reconstruction (95.8% score) without cloud reliance.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Provided hands-free natural voice controls and a 10-level gamified architectural learning curriculum.</a:t>
            </a:r>
          </a:p>
          <a:p>
            <a:pPr marL="360000" indent="-280000">
              <a:buChar char="•"/>
              <a:spcAft>
                <a:spcPts val="1000"/>
              </a:spcAft>
              <a:lnSpc>
                <a:spcPct val="130000"/>
              </a:lnSpc>
            </a:pPr>
            <a:r>
              <a:rPr lang="en-US" sz="1900">
                <a:solidFill>
                  <a:srgbClr val="1E293B"/>
                </a:solidFill>
              </a:rPr>
              <a:t>Ensured strict user privacy by removing advertising identifiers (AD_ID) for COPPA &amp; Families compliance.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B1B54"/>
      </a:dk2>
      <a:lt2>
        <a:srgbClr val="F8FAFC"/>
      </a:lt2>
      <a:accent1>
        <a:srgbClr val="1D4ED8"/>
      </a:accent1>
      <a:accent2>
        <a:srgbClr val="2563EB"/>
      </a:accent2>
      <a:accent3>
        <a:srgbClr val="3B82F6"/>
      </a:accent3>
      <a:accent4>
        <a:srgbClr val="60A5FA"/>
      </a:accent4>
      <a:accent5>
        <a:srgbClr val="93C5FD"/>
      </a:accent5>
      <a:accent6>
        <a:srgbClr val="DBEAFE"/>
      </a:accent6>
      <a:hlink>
        <a:srgbClr val="2563EB"/>
      </a:hlink>
      <a:folHlink>
        <a:srgbClr val="1D4ED8"/>
      </a:folHlink>
    </a:clrScheme>
    <a:fontScheme name="Office">
      <a:majorFont>
        <a:latin typeface="Times New Roman"/>
      </a:majorFont>
      <a:minorFont>
        <a:latin typeface="Times New Roman"/>
      </a:minorFont>
    </a:fontScheme>
    <a:fmtScheme name="Office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